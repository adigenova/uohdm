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2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2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2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2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2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2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2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2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2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4030265" y="12174593"/>
            <a:ext cx="16323471" cy="648365"/>
          </a:xfrm>
          <a:prstGeom prst="rect">
            <a:avLst/>
          </a:prstGeom>
        </p:spPr>
        <p:txBody>
          <a:bodyPr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2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4030265" y="2607468"/>
            <a:ext cx="16325237" cy="4643439"/>
          </a:xfrm>
          <a:prstGeom prst="rect">
            <a:avLst/>
          </a:prstGeom>
        </p:spPr>
        <p:txBody>
          <a:bodyPr anchor="b"/>
          <a:lstStyle>
            <a:lvl1pPr>
              <a:defRPr spc="-228" sz="114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4030265" y="7179468"/>
            <a:ext cx="16323470" cy="204806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1987110" y="12954297"/>
            <a:ext cx="409780" cy="41587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mage"/>
          <p:cNvSpPr/>
          <p:nvPr>
            <p:ph type="pic" idx="21"/>
          </p:nvPr>
        </p:nvSpPr>
        <p:spPr>
          <a:xfrm>
            <a:off x="2518171" y="-1287976"/>
            <a:ext cx="25081385" cy="1502183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4030265" y="7286625"/>
            <a:ext cx="16323470" cy="4643438"/>
          </a:xfrm>
          <a:prstGeom prst="rect">
            <a:avLst/>
          </a:prstGeom>
        </p:spPr>
        <p:txBody>
          <a:bodyPr anchor="b"/>
          <a:lstStyle>
            <a:lvl1pPr>
              <a:defRPr spc="-228" sz="114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4030265" y="11858625"/>
            <a:ext cx="16323470" cy="9699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4030265" y="803671"/>
            <a:ext cx="16323471" cy="648365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200"/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11982253" y="12954297"/>
            <a:ext cx="409779" cy="41587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eg"/>
          <p:cNvSpPr/>
          <p:nvPr>
            <p:ph type="pic" sz="half" idx="21"/>
          </p:nvPr>
        </p:nvSpPr>
        <p:spPr>
          <a:xfrm>
            <a:off x="10528025" y="696515"/>
            <a:ext cx="10608470" cy="1234695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4030265" y="7036593"/>
            <a:ext cx="7179470" cy="568767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Slide Title"/>
          <p:cNvSpPr txBox="1"/>
          <p:nvPr>
            <p:ph type="title" hasCustomPrompt="1"/>
          </p:nvPr>
        </p:nvSpPr>
        <p:spPr>
          <a:xfrm>
            <a:off x="4030265" y="973876"/>
            <a:ext cx="7179470" cy="61698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4030265" y="1987000"/>
            <a:ext cx="16323471" cy="94472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828785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660384004_1290x1720.jpeg"/>
          <p:cNvSpPr/>
          <p:nvPr>
            <p:ph type="pic" sz="half" idx="21"/>
          </p:nvPr>
        </p:nvSpPr>
        <p:spPr>
          <a:xfrm>
            <a:off x="11727656" y="839390"/>
            <a:ext cx="9068098" cy="1209079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4030265" y="625078"/>
            <a:ext cx="7179470" cy="1428751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4030265" y="1987000"/>
            <a:ext cx="7179470" cy="94472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quarter" idx="1" hasCustomPrompt="1"/>
          </p:nvPr>
        </p:nvSpPr>
        <p:spPr>
          <a:xfrm>
            <a:off x="4030265" y="4894026"/>
            <a:ext cx="7179470" cy="786538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4030265" y="4536281"/>
            <a:ext cx="16323470" cy="4643438"/>
          </a:xfrm>
          <a:prstGeom prst="rect">
            <a:avLst/>
          </a:prstGeom>
        </p:spPr>
        <p:txBody>
          <a:bodyPr anchor="ctr"/>
          <a:lstStyle>
            <a:lvl1pPr>
              <a:defRPr b="0" spc="-228" sz="11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4030265" y="1987000"/>
            <a:ext cx="16323471" cy="94472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4030265" y="625078"/>
            <a:ext cx="16323470" cy="1428751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4030265" y="1982390"/>
            <a:ext cx="16323471" cy="94472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800"/>
              </a:spcBef>
              <a:buSzTx/>
              <a:buNone/>
              <a:defRPr spc="-52" sz="5200"/>
            </a:lvl1pPr>
            <a:lvl2pPr marL="0" indent="457200">
              <a:spcBef>
                <a:spcPts val="1800"/>
              </a:spcBef>
              <a:buSzTx/>
              <a:buNone/>
              <a:defRPr spc="-52" sz="5200"/>
            </a:lvl2pPr>
            <a:lvl3pPr marL="0" indent="914400">
              <a:spcBef>
                <a:spcPts val="1800"/>
              </a:spcBef>
              <a:buSzTx/>
              <a:buNone/>
              <a:defRPr spc="-52" sz="5200"/>
            </a:lvl3pPr>
            <a:lvl4pPr marL="0" indent="1371600">
              <a:spcBef>
                <a:spcPts val="1800"/>
              </a:spcBef>
              <a:buSzTx/>
              <a:buNone/>
              <a:defRPr spc="-52" sz="5200"/>
            </a:lvl4pPr>
            <a:lvl5pPr marL="0" indent="1828800">
              <a:spcBef>
                <a:spcPts val="1800"/>
              </a:spcBef>
              <a:buSzTx/>
              <a:buNone/>
              <a:defRPr spc="-52" sz="52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quarter" idx="1" hasCustomPrompt="1"/>
          </p:nvPr>
        </p:nvSpPr>
        <p:spPr>
          <a:xfrm>
            <a:off x="4030265" y="5018484"/>
            <a:ext cx="16323470" cy="36812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28" sz="11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28" sz="11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28" sz="11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28" sz="11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28" sz="11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/>
          <p:nvPr>
            <p:ph type="body" sz="quarter" idx="21" hasCustomPrompt="1"/>
          </p:nvPr>
        </p:nvSpPr>
        <p:spPr>
          <a:xfrm>
            <a:off x="4030265" y="8732784"/>
            <a:ext cx="16323468" cy="9447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1" sz="5200"/>
            </a:lvl1pPr>
          </a:lstStyle>
          <a:p>
            <a:pPr/>
            <a:r>
              <a:t>Fact information</a:t>
            </a:r>
          </a:p>
        </p:txBody>
      </p:sp>
      <p:sp>
        <p:nvSpPr>
          <p:cNvPr id="107" name="Body Level One…"/>
          <p:cNvSpPr txBox="1"/>
          <p:nvPr>
            <p:ph type="body" sz="half" idx="1" hasCustomPrompt="1"/>
          </p:nvPr>
        </p:nvSpPr>
        <p:spPr>
          <a:xfrm>
            <a:off x="4030265" y="1404937"/>
            <a:ext cx="16323470" cy="732784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46" sz="24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46" sz="24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46" sz="24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46" sz="24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46" sz="246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dy Level One…"/>
          <p:cNvSpPr txBox="1"/>
          <p:nvPr>
            <p:ph type="body" sz="quarter" idx="1" hasCustomPrompt="1"/>
          </p:nvPr>
        </p:nvSpPr>
        <p:spPr>
          <a:xfrm>
            <a:off x="4083843" y="5232796"/>
            <a:ext cx="16216314" cy="3268267"/>
          </a:xfrm>
          <a:prstGeom prst="rect">
            <a:avLst/>
          </a:prstGeom>
        </p:spPr>
        <p:txBody>
          <a:bodyPr anchor="ctr"/>
          <a:lstStyle>
            <a:lvl1pPr marL="642937" indent="-482203">
              <a:spcBef>
                <a:spcPts val="0"/>
              </a:spcBef>
              <a:buSzTx/>
              <a:buNone/>
              <a:defRPr spc="-168" sz="8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42937" indent="-25003">
              <a:spcBef>
                <a:spcPts val="0"/>
              </a:spcBef>
              <a:buSzTx/>
              <a:buNone/>
              <a:defRPr spc="-168" sz="8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42937" indent="432196">
              <a:spcBef>
                <a:spcPts val="0"/>
              </a:spcBef>
              <a:buSzTx/>
              <a:buNone/>
              <a:defRPr spc="-168" sz="8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42937" indent="889396">
              <a:spcBef>
                <a:spcPts val="0"/>
              </a:spcBef>
              <a:buSzTx/>
              <a:buNone/>
              <a:defRPr spc="-168" sz="8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42937" indent="1346596">
              <a:spcBef>
                <a:spcPts val="0"/>
              </a:spcBef>
              <a:buSzTx/>
              <a:buNone/>
              <a:defRPr spc="-168" sz="8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6" name="Attribution"/>
          <p:cNvSpPr txBox="1"/>
          <p:nvPr>
            <p:ph type="body" sz="quarter" idx="21" hasCustomPrompt="1"/>
          </p:nvPr>
        </p:nvSpPr>
        <p:spPr>
          <a:xfrm>
            <a:off x="4762500" y="9036843"/>
            <a:ext cx="15537657" cy="648365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200"/>
            </a:lvl1pPr>
          </a:lstStyle>
          <a:p>
            <a:pPr/>
            <a:r>
              <a:t>Attribution</a:t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/>
          <p:nvPr>
            <p:ph type="pic" idx="21"/>
          </p:nvPr>
        </p:nvSpPr>
        <p:spPr>
          <a:xfrm>
            <a:off x="119062" y="966878"/>
            <a:ext cx="15701049" cy="1177578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Image"/>
          <p:cNvSpPr/>
          <p:nvPr>
            <p:ph type="pic" sz="quarter" idx="22"/>
          </p:nvPr>
        </p:nvSpPr>
        <p:spPr>
          <a:xfrm>
            <a:off x="12325945" y="410765"/>
            <a:ext cx="8072438" cy="64579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Image"/>
          <p:cNvSpPr/>
          <p:nvPr>
            <p:ph type="pic" idx="23"/>
          </p:nvPr>
        </p:nvSpPr>
        <p:spPr>
          <a:xfrm>
            <a:off x="10057804" y="3866554"/>
            <a:ext cx="11162111" cy="1299132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886640052_3195x2556.jpeg"/>
          <p:cNvSpPr/>
          <p:nvPr>
            <p:ph type="pic" idx="21"/>
          </p:nvPr>
        </p:nvSpPr>
        <p:spPr>
          <a:xfrm>
            <a:off x="1619250" y="-1482329"/>
            <a:ext cx="20288250" cy="162306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xfrm>
            <a:off x="11987110" y="12954297"/>
            <a:ext cx="409780" cy="4158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4030265" y="4161234"/>
            <a:ext cx="16323470" cy="857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Slide Title"/>
          <p:cNvSpPr txBox="1"/>
          <p:nvPr>
            <p:ph type="title" hasCustomPrompt="1"/>
          </p:nvPr>
        </p:nvSpPr>
        <p:spPr>
          <a:xfrm>
            <a:off x="4030265" y="619125"/>
            <a:ext cx="16323470" cy="1428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82348" y="12954297"/>
            <a:ext cx="409779" cy="415875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b">
            <a:spAutoFit/>
          </a:bodyPr>
          <a:lstStyle>
            <a:lvl1pPr defTabSz="821531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8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8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8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8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8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8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8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8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68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533400" marR="0" indent="-5334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914400" marR="0" indent="-5334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295400" marR="0" indent="-5334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676400" marR="0" indent="-5334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2057400" marR="0" indent="-5334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438400" marR="0" indent="-5334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819400" marR="0" indent="-5334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200400" marR="0" indent="-5334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581400" marR="0" indent="-533400" algn="l" defTabSz="2438339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2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07/04/2026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07/04/2026</a:t>
            </a:r>
          </a:p>
        </p:txBody>
      </p:sp>
      <p:sp>
        <p:nvSpPr>
          <p:cNvPr id="152" name="Minería de Dato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Minería de Datos</a:t>
            </a:r>
          </a:p>
        </p:txBody>
      </p:sp>
      <p:sp>
        <p:nvSpPr>
          <p:cNvPr id="153" name="Alex Di Genova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Alex Di Genova</a:t>
            </a:r>
          </a:p>
        </p:txBody>
      </p:sp>
      <p:pic>
        <p:nvPicPr>
          <p:cNvPr id="154" name="Screenshot 2024-05-14 at 09.36.55.png" descr="Screenshot 2024-05-14 at 09.36.5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605388" y="199600"/>
            <a:ext cx="13174138" cy="48932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KDD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KDD</a:t>
            </a:r>
          </a:p>
          <a:p>
            <a:pPr/>
            <a:r>
              <a:t>Introducción a las técnicas principales en MD</a:t>
            </a:r>
          </a:p>
        </p:txBody>
      </p:sp>
      <p:sp>
        <p:nvSpPr>
          <p:cNvPr id="15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" name="Program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Programa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Visión glob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Visión global</a:t>
            </a:r>
          </a:p>
        </p:txBody>
      </p:sp>
      <p:sp>
        <p:nvSpPr>
          <p:cNvPr id="161" name="Astronomía…"/>
          <p:cNvSpPr txBox="1"/>
          <p:nvPr/>
        </p:nvSpPr>
        <p:spPr>
          <a:xfrm>
            <a:off x="6361581" y="10983607"/>
            <a:ext cx="4487692" cy="2415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310242" indent="-310242" algn="l">
              <a:buSzPct val="100000"/>
              <a:buChar char="•"/>
              <a:defRPr sz="3800"/>
            </a:pPr>
            <a:r>
              <a:t>Astronomía</a:t>
            </a:r>
          </a:p>
          <a:p>
            <a:pPr marL="310242" indent="-310242" algn="l">
              <a:buSzPct val="100000"/>
              <a:buChar char="•"/>
              <a:defRPr sz="3800"/>
            </a:pPr>
            <a:r>
              <a:t>Genómica</a:t>
            </a:r>
          </a:p>
          <a:p>
            <a:pPr marL="310242" indent="-310242" algn="l">
              <a:buSzPct val="100000"/>
              <a:buChar char="•"/>
              <a:defRPr sz="3800"/>
            </a:pPr>
            <a:r>
              <a:t>Redes Sociales</a:t>
            </a:r>
          </a:p>
          <a:p>
            <a:pPr marL="310242" indent="-310242" algn="l">
              <a:buSzPct val="100000"/>
              <a:buChar char="•"/>
              <a:defRPr sz="3800"/>
            </a:pPr>
            <a:r>
              <a:t>Youtube</a:t>
            </a:r>
          </a:p>
        </p:txBody>
      </p:sp>
      <p:pic>
        <p:nvPicPr>
          <p:cNvPr id="16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24495" y="2112452"/>
            <a:ext cx="13335010" cy="8567745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Octubre 2020, Sebastian Steudtner (German)…"/>
          <p:cNvSpPr txBox="1"/>
          <p:nvPr/>
        </p:nvSpPr>
        <p:spPr>
          <a:xfrm>
            <a:off x="19042538" y="3322607"/>
            <a:ext cx="2598759" cy="2581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 defTabSz="642937">
              <a:defRPr sz="2600">
                <a:solidFill>
                  <a:srgbClr val="333333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Octubre 2020, Sebastian Steudtner (German) </a:t>
            </a:r>
          </a:p>
          <a:p>
            <a:pPr algn="l" defTabSz="642937">
              <a:defRPr sz="2600">
                <a:solidFill>
                  <a:srgbClr val="333333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26 metros</a:t>
            </a:r>
          </a:p>
          <a:p>
            <a:pPr algn="l" defTabSz="642937">
              <a:defRPr sz="2600">
                <a:solidFill>
                  <a:srgbClr val="333333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 </a:t>
            </a:r>
          </a:p>
        </p:txBody>
      </p:sp>
      <p:sp>
        <p:nvSpPr>
          <p:cNvPr id="164" name="Infraestructura (computadores, redes)…"/>
          <p:cNvSpPr txBox="1"/>
          <p:nvPr/>
        </p:nvSpPr>
        <p:spPr>
          <a:xfrm>
            <a:off x="11004161" y="11357698"/>
            <a:ext cx="8582186" cy="1272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marL="310242" indent="-310242" algn="l">
              <a:buSzPct val="100000"/>
              <a:buChar char="•"/>
              <a:defRPr sz="3800">
                <a:solidFill>
                  <a:srgbClr val="000000"/>
                </a:solidFill>
              </a:defRPr>
            </a:pPr>
            <a:r>
              <a:t>Infraestructura (computadores, redes)</a:t>
            </a:r>
          </a:p>
          <a:p>
            <a:pPr marL="310242" indent="-310242" algn="l">
              <a:buSzPct val="100000"/>
              <a:buChar char="•"/>
              <a:defRPr sz="3800">
                <a:solidFill>
                  <a:srgbClr val="000000"/>
                </a:solidFill>
              </a:defRPr>
            </a:pPr>
            <a:r>
              <a:t>algoritmos y modelos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elección de datos Se eligen los datos relevantes desde una o varias fuentes. Ejemplo: registros de ventas, datos clínicos, sensores, encuestas.…"/>
          <p:cNvSpPr txBox="1"/>
          <p:nvPr>
            <p:ph type="body" sz="half" idx="1"/>
          </p:nvPr>
        </p:nvSpPr>
        <p:spPr>
          <a:xfrm>
            <a:off x="452583" y="2882171"/>
            <a:ext cx="12174336" cy="10276633"/>
          </a:xfrm>
          <a:prstGeom prst="rect">
            <a:avLst/>
          </a:prstGeom>
        </p:spPr>
        <p:txBody>
          <a:bodyPr/>
          <a:lstStyle/>
          <a:p>
            <a:pPr marL="263983" indent="-263983" defTabSz="533638">
              <a:lnSpc>
                <a:spcPct val="100000"/>
              </a:lnSpc>
              <a:spcBef>
                <a:spcPts val="0"/>
              </a:spcBef>
              <a:buSzPct val="100000"/>
              <a:defRPr sz="282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Selección de datos</a:t>
            </a:r>
            <a:br/>
            <a:r>
              <a:t>Se eligen los datos relevantes desde una o varias fuentes.</a:t>
            </a:r>
            <a:br/>
            <a:r>
              <a:t>Ejemplo: registros de ventas, datos clínicos, sensores, encuestas.</a:t>
            </a:r>
          </a:p>
          <a:p>
            <a:pPr marL="263983" indent="-263983" defTabSz="533638">
              <a:lnSpc>
                <a:spcPct val="100000"/>
              </a:lnSpc>
              <a:spcBef>
                <a:spcPts val="0"/>
              </a:spcBef>
              <a:buSzPct val="100000"/>
              <a:defRPr sz="282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Limpieza y preprocesamiento</a:t>
            </a:r>
            <a:br/>
            <a:r>
              <a:t>Se corrigen errores, se eliminan duplicados, se manejan valores faltantes y ruido.</a:t>
            </a:r>
            <a:br/>
            <a:r>
              <a:t>Esta etapa es clave, porque datos malos producen resultados malos.</a:t>
            </a:r>
          </a:p>
          <a:p>
            <a:pPr marL="263983" indent="-263983" defTabSz="533638">
              <a:lnSpc>
                <a:spcPct val="100000"/>
              </a:lnSpc>
              <a:spcBef>
                <a:spcPts val="0"/>
              </a:spcBef>
              <a:buSzPct val="100000"/>
              <a:defRPr sz="282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Transformación de datos</a:t>
            </a:r>
            <a:br/>
            <a:r>
              <a:t>Los datos se preparan para el análisis.</a:t>
            </a:r>
            <a:br/>
            <a:r>
              <a:t>Esto puede incluir normalización, reducción de dimensiones, agregación o creación de nuevas variables.</a:t>
            </a:r>
          </a:p>
          <a:p>
            <a:pPr marL="263983" indent="-263983" defTabSz="533638">
              <a:lnSpc>
                <a:spcPct val="100000"/>
              </a:lnSpc>
              <a:spcBef>
                <a:spcPts val="0"/>
              </a:spcBef>
              <a:buSzPct val="100000"/>
              <a:defRPr sz="282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Minería de datos (Data Mining)</a:t>
            </a:r>
            <a:br/>
            <a:r>
              <a:t>Aquí se aplican métodos computacionales y estadísticos para identificar patrones.</a:t>
            </a:r>
          </a:p>
          <a:p>
            <a:pPr lvl="1" marL="643459" indent="-263983" defTabSz="533638">
              <a:lnSpc>
                <a:spcPct val="100000"/>
              </a:lnSpc>
              <a:spcBef>
                <a:spcPts val="0"/>
              </a:spcBef>
              <a:buSzPct val="100000"/>
              <a:defRPr sz="2822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clasificación</a:t>
            </a:r>
          </a:p>
          <a:p>
            <a:pPr lvl="1" marL="643459" indent="-263983" defTabSz="533638">
              <a:lnSpc>
                <a:spcPct val="100000"/>
              </a:lnSpc>
              <a:spcBef>
                <a:spcPts val="0"/>
              </a:spcBef>
              <a:buSzPct val="100000"/>
              <a:defRPr sz="2822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clustering</a:t>
            </a:r>
          </a:p>
          <a:p>
            <a:pPr lvl="1" marL="643459" indent="-263983" defTabSz="533638">
              <a:lnSpc>
                <a:spcPct val="100000"/>
              </a:lnSpc>
              <a:spcBef>
                <a:spcPts val="0"/>
              </a:spcBef>
              <a:buSzPct val="100000"/>
              <a:defRPr sz="2822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reglas de asociación</a:t>
            </a:r>
          </a:p>
          <a:p>
            <a:pPr lvl="1" marL="643459" indent="-263983" defTabSz="533638">
              <a:lnSpc>
                <a:spcPct val="100000"/>
              </a:lnSpc>
              <a:spcBef>
                <a:spcPts val="0"/>
              </a:spcBef>
              <a:buSzPct val="100000"/>
              <a:defRPr sz="2822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regresión</a:t>
            </a:r>
          </a:p>
          <a:p>
            <a:pPr lvl="1" marL="643459" indent="-263983" defTabSz="533638">
              <a:lnSpc>
                <a:spcPct val="100000"/>
              </a:lnSpc>
              <a:spcBef>
                <a:spcPts val="0"/>
              </a:spcBef>
              <a:buSzPct val="100000"/>
              <a:defRPr sz="2822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detección de anomalías</a:t>
            </a:r>
          </a:p>
          <a:p>
            <a:pPr marL="263983" indent="-263983" defTabSz="533638">
              <a:lnSpc>
                <a:spcPct val="100000"/>
              </a:lnSpc>
              <a:spcBef>
                <a:spcPts val="0"/>
              </a:spcBef>
              <a:buSzPct val="100000"/>
              <a:defRPr sz="282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Evaluación e interpretación</a:t>
            </a:r>
            <a:br/>
            <a:r>
              <a:t>Se revisa si los patrones encontrados son realmente útiles, válidos e interesantes.</a:t>
            </a:r>
            <a:br/>
            <a:r>
              <a:t>No todo patrón descubierto tiene valor práctico.</a:t>
            </a:r>
          </a:p>
          <a:p>
            <a:pPr marL="263983" indent="-263983" defTabSz="533638">
              <a:lnSpc>
                <a:spcPct val="100000"/>
              </a:lnSpc>
              <a:spcBef>
                <a:spcPts val="0"/>
              </a:spcBef>
              <a:buSzPct val="100000"/>
              <a:defRPr sz="282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Presentación del conocimiento</a:t>
            </a:r>
            <a:br/>
            <a:r>
              <a:t>Los resultados se comunican de forma comprensible, por ejemplo, mediante gráficos, reglas, reportes o dashboards.</a:t>
            </a:r>
          </a:p>
        </p:txBody>
      </p:sp>
      <p:sp>
        <p:nvSpPr>
          <p:cNvPr id="167" name="Datos → información → conocimiento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Datos → información → conocimiento</a:t>
            </a:r>
          </a:p>
        </p:txBody>
      </p:sp>
      <p:sp>
        <p:nvSpPr>
          <p:cNvPr id="168" name="Knowledge Discovery in Databases - KD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01904">
              <a:defRPr spc="-131" sz="6551"/>
            </a:lvl1pPr>
          </a:lstStyle>
          <a:p>
            <a:pPr/>
            <a:r>
              <a:t>Knowledge Discovery in Databases - KDD </a:t>
            </a:r>
          </a:p>
        </p:txBody>
      </p:sp>
      <p:pic>
        <p:nvPicPr>
          <p:cNvPr id="16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26177" y="3144564"/>
            <a:ext cx="10886666" cy="7778019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KDD es el proceso de identificar patrones válidos, nuevos, útiles y comprensibles en conjuntos de datos."/>
          <p:cNvSpPr txBox="1"/>
          <p:nvPr/>
        </p:nvSpPr>
        <p:spPr>
          <a:xfrm>
            <a:off x="14695391" y="11135426"/>
            <a:ext cx="8292422" cy="1971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 defTabSz="457200">
              <a:spcBef>
                <a:spcPts val="1200"/>
              </a:spcBef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KDD</a:t>
            </a:r>
            <a:r>
              <a:t> es el proceso de identificar patrones válidos, nuevos, útiles y comprensibles en conjuntos de datos.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9" grpId="2"/>
      <p:bldP build="whole" bldLvl="1" animBg="1" rev="0" advAuto="0" spid="167" grpId="3"/>
      <p:bldP build="p" bldLvl="1" animBg="1" rev="0" advAuto="0" spid="16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Una tienda tiene miles de compras registradas.…"/>
          <p:cNvSpPr txBox="1"/>
          <p:nvPr>
            <p:ph type="body" sz="half" idx="1"/>
          </p:nvPr>
        </p:nvSpPr>
        <p:spPr>
          <a:xfrm>
            <a:off x="106680" y="3390960"/>
            <a:ext cx="9400684" cy="8572501"/>
          </a:xfrm>
          <a:prstGeom prst="rect">
            <a:avLst/>
          </a:prstGeom>
        </p:spPr>
        <p:txBody>
          <a:bodyPr/>
          <a:lstStyle/>
          <a:p>
            <a:pPr marL="458723" indent="-458723" defTabSz="2096971">
              <a:spcBef>
                <a:spcPts val="3800"/>
              </a:spcBef>
              <a:defRPr sz="3612"/>
            </a:pPr>
            <a:r>
              <a:t>Una tienda tiene miles de compras registradas.</a:t>
            </a:r>
          </a:p>
          <a:p>
            <a:pPr marL="458723" indent="-458723" defTabSz="2096971">
              <a:spcBef>
                <a:spcPts val="3800"/>
              </a:spcBef>
              <a:defRPr sz="3612"/>
            </a:pPr>
            <a:r>
              <a:t>Con KDD puede descubrir que:</a:t>
            </a:r>
          </a:p>
          <a:p>
            <a:pPr lvl="1" marL="786384" indent="-458723" defTabSz="2096971">
              <a:spcBef>
                <a:spcPts val="3800"/>
              </a:spcBef>
              <a:defRPr sz="3612"/>
            </a:pPr>
            <a:r>
              <a:t>Clientes que compran pañales también compran toallitas</a:t>
            </a:r>
          </a:p>
          <a:p>
            <a:pPr lvl="1" marL="786384" indent="-458723" defTabSz="2096971">
              <a:spcBef>
                <a:spcPts val="3800"/>
              </a:spcBef>
              <a:defRPr sz="3612"/>
            </a:pPr>
            <a:r>
              <a:t>Ciertos productos se venden más en fines de semana</a:t>
            </a:r>
          </a:p>
          <a:p>
            <a:pPr lvl="1" marL="786384" indent="-458723" defTabSz="2096971">
              <a:spcBef>
                <a:spcPts val="3800"/>
              </a:spcBef>
              <a:defRPr sz="3612"/>
            </a:pPr>
            <a:r>
              <a:t>Algunos clientes tienen alto riesgo de dejar de comprar</a:t>
            </a:r>
          </a:p>
          <a:p>
            <a:pPr marL="458723" indent="-458723" defTabSz="2096971">
              <a:spcBef>
                <a:spcPts val="3800"/>
              </a:spcBef>
              <a:defRPr sz="3612"/>
            </a:pPr>
            <a:r>
              <a:t>Ese conocimiento luego sirve para marketing, predicción o toma de decisiones</a:t>
            </a:r>
          </a:p>
        </p:txBody>
      </p:sp>
      <p:sp>
        <p:nvSpPr>
          <p:cNvPr id="173" name="Ejemplos"/>
          <p:cNvSpPr txBox="1"/>
          <p:nvPr>
            <p:ph type="body" idx="21"/>
          </p:nvPr>
        </p:nvSpPr>
        <p:spPr>
          <a:xfrm>
            <a:off x="1936082" y="1866644"/>
            <a:ext cx="3579529" cy="9447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Ejemplos</a:t>
            </a:r>
          </a:p>
        </p:txBody>
      </p:sp>
      <p:sp>
        <p:nvSpPr>
          <p:cNvPr id="174" name="KDD"/>
          <p:cNvSpPr txBox="1"/>
          <p:nvPr>
            <p:ph type="title"/>
          </p:nvPr>
        </p:nvSpPr>
        <p:spPr>
          <a:xfrm>
            <a:off x="1912011" y="546911"/>
            <a:ext cx="3176430" cy="1428751"/>
          </a:xfrm>
          <a:prstGeom prst="rect">
            <a:avLst/>
          </a:prstGeom>
        </p:spPr>
        <p:txBody>
          <a:bodyPr/>
          <a:lstStyle/>
          <a:p>
            <a:pPr/>
            <a:r>
              <a:t>KDD</a:t>
            </a:r>
          </a:p>
        </p:txBody>
      </p:sp>
      <p:sp>
        <p:nvSpPr>
          <p:cNvPr id="175" name="Bancos y finanzas…"/>
          <p:cNvSpPr txBox="1"/>
          <p:nvPr/>
        </p:nvSpPr>
        <p:spPr>
          <a:xfrm>
            <a:off x="8797078" y="-99347"/>
            <a:ext cx="8152750" cy="693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normAutofit fontScale="100000" lnSpcReduction="0"/>
          </a:bodyPr>
          <a:lstStyle/>
          <a:p>
            <a:pPr marL="533400" indent="-5334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1" sz="4200">
                <a:solidFill>
                  <a:srgbClr val="000000"/>
                </a:solidFill>
              </a:defRPr>
            </a:pPr>
            <a:r>
              <a:t>Bancos y finanzas</a:t>
            </a:r>
          </a:p>
          <a:p>
            <a:pPr marL="533400" indent="-5334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200">
                <a:solidFill>
                  <a:srgbClr val="000000"/>
                </a:solidFill>
              </a:defRPr>
            </a:pPr>
            <a:r>
              <a:t>Con transacciones financieras, el KDD ayuda a detectar:</a:t>
            </a:r>
          </a:p>
          <a:p>
            <a:pPr marL="533400" indent="-5334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200">
                <a:solidFill>
                  <a:srgbClr val="000000"/>
                </a:solidFill>
              </a:defRPr>
            </a:pPr>
            <a:r>
              <a:t>Fraude</a:t>
            </a:r>
          </a:p>
          <a:p>
            <a:pPr marL="533400" indent="-5334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200">
                <a:solidFill>
                  <a:srgbClr val="000000"/>
                </a:solidFill>
              </a:defRPr>
            </a:pPr>
            <a:r>
              <a:t>perfiles de riesgo crediticio</a:t>
            </a:r>
          </a:p>
          <a:p>
            <a:pPr marL="533400" indent="-5334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200">
                <a:solidFill>
                  <a:srgbClr val="000000"/>
                </a:solidFill>
              </a:defRPr>
            </a:pPr>
            <a:r>
              <a:t>patrones de gasto y comportamiento financiero</a:t>
            </a:r>
          </a:p>
        </p:txBody>
      </p:sp>
      <p:sp>
        <p:nvSpPr>
          <p:cNvPr id="176" name="Educación…"/>
          <p:cNvSpPr txBox="1"/>
          <p:nvPr/>
        </p:nvSpPr>
        <p:spPr>
          <a:xfrm>
            <a:off x="8847878" y="6599057"/>
            <a:ext cx="8152750" cy="693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normAutofit fontScale="100000" lnSpcReduction="0"/>
          </a:bodyPr>
          <a:lstStyle/>
          <a:p>
            <a:pPr marL="522731" indent="-522731" algn="l" defTabSz="2389572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b="1" sz="4116">
                <a:solidFill>
                  <a:srgbClr val="000000"/>
                </a:solidFill>
              </a:defRPr>
            </a:pPr>
            <a:r>
              <a:t>Educación</a:t>
            </a:r>
          </a:p>
          <a:p>
            <a:pPr marL="522731" indent="-522731" algn="l" defTabSz="2389572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4116">
                <a:solidFill>
                  <a:srgbClr val="000000"/>
                </a:solidFill>
              </a:defRPr>
            </a:pPr>
            <a:r>
              <a:t>Con datos de estudiantes, asistencia y calificaciones, se puede descubrir:</a:t>
            </a:r>
          </a:p>
          <a:p>
            <a:pPr marL="522731" indent="-522731" algn="l" defTabSz="2389572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4116">
                <a:solidFill>
                  <a:srgbClr val="000000"/>
                </a:solidFill>
              </a:defRPr>
            </a:pPr>
            <a:r>
              <a:t>factores asociados al bajo rendimiento</a:t>
            </a:r>
          </a:p>
          <a:p>
            <a:pPr marL="522731" indent="-522731" algn="l" defTabSz="2389572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4116">
                <a:solidFill>
                  <a:srgbClr val="000000"/>
                </a:solidFill>
              </a:defRPr>
            </a:pPr>
            <a:r>
              <a:t>riesgo de deserción</a:t>
            </a:r>
          </a:p>
          <a:p>
            <a:pPr marL="522731" indent="-522731" algn="l" defTabSz="2389572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4116">
                <a:solidFill>
                  <a:srgbClr val="000000"/>
                </a:solidFill>
              </a:defRPr>
            </a:pPr>
            <a:r>
              <a:t>perfiles de aprendizaje</a:t>
            </a:r>
          </a:p>
        </p:txBody>
      </p:sp>
      <p:sp>
        <p:nvSpPr>
          <p:cNvPr id="177" name="Redes sociales y plataformas web…"/>
          <p:cNvSpPr txBox="1"/>
          <p:nvPr/>
        </p:nvSpPr>
        <p:spPr>
          <a:xfrm>
            <a:off x="16271661" y="-73947"/>
            <a:ext cx="8152749" cy="693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normAutofit fontScale="100000" lnSpcReduction="0"/>
          </a:bodyPr>
          <a:lstStyle/>
          <a:p>
            <a:pPr marL="469391" indent="-469391" algn="l" defTabSz="2145738">
              <a:lnSpc>
                <a:spcPct val="90000"/>
              </a:lnSpc>
              <a:spcBef>
                <a:spcPts val="3900"/>
              </a:spcBef>
              <a:buSzPct val="123000"/>
              <a:buChar char="•"/>
              <a:defRPr b="1" sz="3696">
                <a:solidFill>
                  <a:srgbClr val="000000"/>
                </a:solidFill>
              </a:defRPr>
            </a:pPr>
            <a:r>
              <a:t>Redes sociales y plataformas web</a:t>
            </a:r>
          </a:p>
          <a:p>
            <a:pPr marL="469391" indent="-469391" algn="l" defTabSz="2145738">
              <a:lnSpc>
                <a:spcPct val="90000"/>
              </a:lnSpc>
              <a:spcBef>
                <a:spcPts val="3900"/>
              </a:spcBef>
              <a:buSzPct val="123000"/>
              <a:buChar char="•"/>
              <a:defRPr sz="3696">
                <a:solidFill>
                  <a:srgbClr val="000000"/>
                </a:solidFill>
              </a:defRPr>
            </a:pPr>
            <a:r>
              <a:t>Con clics, publicaciones o interacciones, se pueden encontrar:</a:t>
            </a:r>
          </a:p>
          <a:p>
            <a:pPr marL="469391" indent="-469391" algn="l" defTabSz="2145738">
              <a:lnSpc>
                <a:spcPct val="90000"/>
              </a:lnSpc>
              <a:spcBef>
                <a:spcPts val="3900"/>
              </a:spcBef>
              <a:buSzPct val="123000"/>
              <a:buChar char="•"/>
              <a:defRPr sz="3696">
                <a:solidFill>
                  <a:srgbClr val="000000"/>
                </a:solidFill>
              </a:defRPr>
            </a:pPr>
            <a:r>
              <a:t>patrones de comportamiento de usuarios</a:t>
            </a:r>
          </a:p>
          <a:p>
            <a:pPr marL="469391" indent="-469391" algn="l" defTabSz="2145738">
              <a:lnSpc>
                <a:spcPct val="90000"/>
              </a:lnSpc>
              <a:spcBef>
                <a:spcPts val="3900"/>
              </a:spcBef>
              <a:buSzPct val="123000"/>
              <a:buChar char="•"/>
              <a:defRPr sz="3696">
                <a:solidFill>
                  <a:srgbClr val="000000"/>
                </a:solidFill>
              </a:defRPr>
            </a:pPr>
            <a:r>
              <a:t>contenido más relevante o viral</a:t>
            </a:r>
          </a:p>
          <a:p>
            <a:pPr marL="469391" indent="-469391" algn="l" defTabSz="2145738">
              <a:lnSpc>
                <a:spcPct val="90000"/>
              </a:lnSpc>
              <a:spcBef>
                <a:spcPts val="3900"/>
              </a:spcBef>
              <a:buSzPct val="123000"/>
              <a:buChar char="•"/>
              <a:defRPr sz="3696">
                <a:solidFill>
                  <a:srgbClr val="000000"/>
                </a:solidFill>
              </a:defRPr>
            </a:pPr>
            <a:r>
              <a:t>segmentos de usuarios con intereses similares</a:t>
            </a:r>
          </a:p>
        </p:txBody>
      </p:sp>
      <p:sp>
        <p:nvSpPr>
          <p:cNvPr id="178" name="Transporte y ciudades inteligentes…"/>
          <p:cNvSpPr txBox="1"/>
          <p:nvPr/>
        </p:nvSpPr>
        <p:spPr>
          <a:xfrm>
            <a:off x="16258961" y="6791626"/>
            <a:ext cx="8152749" cy="693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normAutofit fontScale="100000" lnSpcReduction="0"/>
          </a:bodyPr>
          <a:lstStyle/>
          <a:p>
            <a:pPr marL="517398" indent="-517398" algn="l" defTabSz="2365188">
              <a:lnSpc>
                <a:spcPct val="90000"/>
              </a:lnSpc>
              <a:spcBef>
                <a:spcPts val="4300"/>
              </a:spcBef>
              <a:buSzPct val="123000"/>
              <a:buChar char="•"/>
              <a:defRPr b="1" sz="4074">
                <a:solidFill>
                  <a:srgbClr val="000000"/>
                </a:solidFill>
              </a:defRPr>
            </a:pPr>
            <a:r>
              <a:t>Transporte y ciudades inteligentes</a:t>
            </a:r>
          </a:p>
          <a:p>
            <a:pPr marL="517398" indent="-517398" algn="l" defTabSz="2365188">
              <a:lnSpc>
                <a:spcPct val="90000"/>
              </a:lnSpc>
              <a:spcBef>
                <a:spcPts val="4300"/>
              </a:spcBef>
              <a:buSzPct val="123000"/>
              <a:buChar char="•"/>
              <a:defRPr sz="4074">
                <a:solidFill>
                  <a:srgbClr val="000000"/>
                </a:solidFill>
              </a:defRPr>
            </a:pPr>
            <a:r>
              <a:t>Con datos de tráfico, GPS y transporte público, se pueden descubrir:</a:t>
            </a:r>
          </a:p>
          <a:p>
            <a:pPr marL="517398" indent="-517398" algn="l" defTabSz="2365188">
              <a:lnSpc>
                <a:spcPct val="90000"/>
              </a:lnSpc>
              <a:spcBef>
                <a:spcPts val="4300"/>
              </a:spcBef>
              <a:buSzPct val="123000"/>
              <a:buChar char="•"/>
              <a:defRPr sz="4074">
                <a:solidFill>
                  <a:srgbClr val="000000"/>
                </a:solidFill>
              </a:defRPr>
            </a:pPr>
            <a:r>
              <a:t>horas y zonas de congestión</a:t>
            </a:r>
          </a:p>
          <a:p>
            <a:pPr marL="517398" indent="-517398" algn="l" defTabSz="2365188">
              <a:lnSpc>
                <a:spcPct val="90000"/>
              </a:lnSpc>
              <a:spcBef>
                <a:spcPts val="4300"/>
              </a:spcBef>
              <a:buSzPct val="123000"/>
              <a:buChar char="•"/>
              <a:defRPr sz="4074">
                <a:solidFill>
                  <a:srgbClr val="000000"/>
                </a:solidFill>
              </a:defRPr>
            </a:pPr>
            <a:r>
              <a:t>rutas más eficientes</a:t>
            </a:r>
          </a:p>
          <a:p>
            <a:pPr marL="517398" indent="-517398" algn="l" defTabSz="2365188">
              <a:lnSpc>
                <a:spcPct val="90000"/>
              </a:lnSpc>
              <a:spcBef>
                <a:spcPts val="4300"/>
              </a:spcBef>
              <a:buSzPct val="123000"/>
              <a:buChar char="•"/>
              <a:defRPr sz="4074">
                <a:solidFill>
                  <a:srgbClr val="000000"/>
                </a:solidFill>
              </a:defRPr>
            </a:pPr>
            <a:r>
              <a:t>patrones de movilidad urbana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La cantidad depende de la dificultad del problema, del ruido y del número de variables.…"/>
          <p:cNvSpPr txBox="1"/>
          <p:nvPr>
            <p:ph type="body" sz="half" idx="1"/>
          </p:nvPr>
        </p:nvSpPr>
        <p:spPr>
          <a:xfrm>
            <a:off x="1213949" y="3968665"/>
            <a:ext cx="9696214" cy="8572501"/>
          </a:xfrm>
          <a:prstGeom prst="rect">
            <a:avLst/>
          </a:prstGeom>
        </p:spPr>
        <p:txBody>
          <a:bodyPr/>
          <a:lstStyle/>
          <a:p>
            <a:pPr/>
            <a:r>
              <a:t>La cantidad depende de la dificultad del problema, del ruido y del número de variables.</a:t>
            </a:r>
          </a:p>
          <a:p>
            <a:pPr/>
            <a:r>
              <a:t>1. Clasificación</a:t>
            </a:r>
          </a:p>
          <a:p>
            <a:pPr lvl="1"/>
            <a:r>
              <a:t>La </a:t>
            </a:r>
            <a:r>
              <a:rPr b="1"/>
              <a:t>clasificación</a:t>
            </a:r>
            <a:r>
              <a:t> busca predecir una categoría o clase, por ejemplo:</a:t>
            </a:r>
          </a:p>
          <a:p>
            <a:pPr lvl="1"/>
            <a:r>
              <a:t>spam / no spam</a:t>
            </a:r>
          </a:p>
          <a:p>
            <a:pPr lvl="1"/>
            <a:r>
              <a:t>enfermo / sano</a:t>
            </a:r>
          </a:p>
          <a:p>
            <a:pPr lvl="1"/>
            <a:r>
              <a:t>cliente que compra / no compra</a:t>
            </a:r>
          </a:p>
        </p:txBody>
      </p:sp>
      <p:sp>
        <p:nvSpPr>
          <p:cNvPr id="18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¿Cuántos datos se necesitan para aplicar KDD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682454">
              <a:defRPr spc="-115" sz="5796"/>
            </a:lvl1pPr>
          </a:lstStyle>
          <a:p>
            <a:pPr/>
            <a:r>
              <a:t>¿Cuántos datos se necesitan para aplicar KDD?</a:t>
            </a:r>
          </a:p>
        </p:txBody>
      </p:sp>
      <p:sp>
        <p:nvSpPr>
          <p:cNvPr id="183" name="Decenas de ejemplos por clase: solo para ejercicios simples o demostraciones.…"/>
          <p:cNvSpPr txBox="1"/>
          <p:nvPr/>
        </p:nvSpPr>
        <p:spPr>
          <a:xfrm>
            <a:off x="11523015" y="3968665"/>
            <a:ext cx="9696214" cy="857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normAutofit fontScale="100000" lnSpcReduction="0"/>
          </a:bodyPr>
          <a:lstStyle/>
          <a:p>
            <a:pPr marL="362711" indent="-362711" algn="l" defTabSz="1658070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2856">
                <a:solidFill>
                  <a:srgbClr val="000000"/>
                </a:solidFill>
              </a:defRPr>
            </a:pPr>
            <a:r>
              <a:rPr b="1"/>
              <a:t>Decenas de ejemplos por clase</a:t>
            </a:r>
            <a:r>
              <a:t>: solo para ejercicios simples o demostraciones.</a:t>
            </a:r>
          </a:p>
          <a:p>
            <a:pPr marL="362711" indent="-362711" algn="l" defTabSz="1658070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2856">
                <a:solidFill>
                  <a:srgbClr val="000000"/>
                </a:solidFill>
              </a:defRPr>
            </a:pPr>
            <a:r>
              <a:rPr b="1"/>
              <a:t>Cientos por clase</a:t>
            </a:r>
            <a:r>
              <a:t>: permite entrenar modelos con algo de estabilidad.</a:t>
            </a:r>
          </a:p>
          <a:p>
            <a:pPr marL="362711" indent="-362711" algn="l" defTabSz="1658070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2856">
                <a:solidFill>
                  <a:srgbClr val="000000"/>
                </a:solidFill>
              </a:defRPr>
            </a:pPr>
            <a:r>
              <a:rPr b="1"/>
              <a:t>Miles o más por clase</a:t>
            </a:r>
            <a:r>
              <a:t>: recomendable para aplicaciones reales, sobre todo si hay muchas variables.</a:t>
            </a:r>
          </a:p>
          <a:p>
            <a:pPr marL="362711" indent="-362711" algn="l" defTabSz="1658070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2856">
                <a:solidFill>
                  <a:srgbClr val="000000"/>
                </a:solidFill>
              </a:defRPr>
            </a:pPr>
            <a:r>
              <a:t>Importante:</a:t>
            </a:r>
          </a:p>
          <a:p>
            <a:pPr lvl="1" marL="621791" indent="-362711" algn="l" defTabSz="1658070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2856">
                <a:solidFill>
                  <a:srgbClr val="000000"/>
                </a:solidFill>
              </a:defRPr>
            </a:pPr>
            <a:r>
              <a:t>Tener ejemplos de todas las clases.</a:t>
            </a:r>
          </a:p>
          <a:p>
            <a:pPr lvl="1" marL="621791" indent="-362711" algn="l" defTabSz="1658070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2856">
                <a:solidFill>
                  <a:srgbClr val="000000"/>
                </a:solidFill>
              </a:defRPr>
            </a:pPr>
            <a:r>
              <a:t>Evitar clases muy desbalanceadas.</a:t>
            </a:r>
          </a:p>
          <a:p>
            <a:pPr lvl="1" marL="621791" indent="-362711" algn="l" defTabSz="1658070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2856">
                <a:solidFill>
                  <a:srgbClr val="000000"/>
                </a:solidFill>
              </a:defRPr>
            </a:pPr>
            <a:r>
              <a:t>Tener suficientes casos para entrenamiento y prueba.</a:t>
            </a:r>
          </a:p>
          <a:p>
            <a:pPr marL="362711" indent="-362711" algn="l" defTabSz="1658070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1" sz="2856">
                <a:solidFill>
                  <a:srgbClr val="000000"/>
                </a:solidFill>
              </a:defRPr>
            </a:pPr>
            <a:r>
              <a:t>Regla práctica</a:t>
            </a:r>
          </a:p>
          <a:p>
            <a:pPr lvl="1" marL="621791" indent="-362711" algn="l" defTabSz="1658070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sz="2856">
                <a:solidFill>
                  <a:srgbClr val="000000"/>
                </a:solidFill>
              </a:defRPr>
            </a:pPr>
            <a:r>
              <a:t>Si una clase tiene muy pocos ejemplos, el modelo aprenderá mal esa categoría.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écnicas principales en M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Técnicas principales en MD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Screenshot 2024-06-18 at 02.31.45.png" descr="Screenshot 2024-06-18 at 02.31.4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84669" y="2415893"/>
            <a:ext cx="11545461" cy="5254087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Modelos estadísticos…"/>
          <p:cNvSpPr txBox="1"/>
          <p:nvPr>
            <p:ph type="body" sz="quarter" idx="1"/>
          </p:nvPr>
        </p:nvSpPr>
        <p:spPr>
          <a:xfrm>
            <a:off x="1863868" y="3893348"/>
            <a:ext cx="6108968" cy="8572501"/>
          </a:xfrm>
          <a:prstGeom prst="rect">
            <a:avLst/>
          </a:prstGeom>
        </p:spPr>
        <p:txBody>
          <a:bodyPr/>
          <a:lstStyle/>
          <a:p>
            <a:pPr marL="485394" indent="-485394" defTabSz="2218888">
              <a:spcBef>
                <a:spcPts val="4000"/>
              </a:spcBef>
              <a:defRPr sz="3822"/>
            </a:pPr>
            <a:r>
              <a:t>Modelos estadísticos</a:t>
            </a:r>
          </a:p>
          <a:p>
            <a:pPr marL="485394" indent="-485394" defTabSz="2218888">
              <a:spcBef>
                <a:spcPts val="4000"/>
              </a:spcBef>
              <a:defRPr sz="3822"/>
            </a:pPr>
            <a:r>
              <a:t>Supervisados</a:t>
            </a:r>
          </a:p>
          <a:p>
            <a:pPr lvl="1" marL="832104" indent="-485394" defTabSz="2218888">
              <a:spcBef>
                <a:spcPts val="4000"/>
              </a:spcBef>
              <a:defRPr sz="3822"/>
            </a:pPr>
            <a:r>
              <a:t>clasificación</a:t>
            </a:r>
          </a:p>
          <a:p>
            <a:pPr lvl="1" marL="832104" indent="-485394" defTabSz="2218888">
              <a:spcBef>
                <a:spcPts val="4000"/>
              </a:spcBef>
              <a:defRPr sz="3822"/>
            </a:pPr>
            <a:r>
              <a:t>Regresión</a:t>
            </a:r>
          </a:p>
          <a:p>
            <a:pPr marL="485394" indent="-485394" defTabSz="2218888">
              <a:spcBef>
                <a:spcPts val="4000"/>
              </a:spcBef>
              <a:defRPr sz="3822"/>
            </a:pPr>
            <a:r>
              <a:t>No-supervisados</a:t>
            </a:r>
          </a:p>
          <a:p>
            <a:pPr lvl="1" marL="832104" indent="-485394" defTabSz="2218888">
              <a:spcBef>
                <a:spcPts val="4000"/>
              </a:spcBef>
              <a:defRPr sz="3822"/>
            </a:pPr>
            <a:r>
              <a:t>Reducción de dimensionalidad</a:t>
            </a:r>
          </a:p>
          <a:p>
            <a:pPr lvl="1" marL="832104" indent="-485394" defTabSz="2218888">
              <a:spcBef>
                <a:spcPts val="4000"/>
              </a:spcBef>
              <a:defRPr sz="3822"/>
            </a:pPr>
            <a:r>
              <a:t>Clustering</a:t>
            </a:r>
          </a:p>
          <a:p>
            <a:pPr marL="485394" indent="-485394" defTabSz="2218888">
              <a:spcBef>
                <a:spcPts val="4000"/>
              </a:spcBef>
              <a:defRPr sz="3822"/>
            </a:pPr>
            <a:r>
              <a:t>Analisis de asociación</a:t>
            </a:r>
          </a:p>
        </p:txBody>
      </p:sp>
      <p:sp>
        <p:nvSpPr>
          <p:cNvPr id="189" name="Clase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Clases</a:t>
            </a:r>
          </a:p>
        </p:txBody>
      </p:sp>
      <p:sp>
        <p:nvSpPr>
          <p:cNvPr id="190" name="Algoritmos de Minería de Dat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Algoritmos de Minería de Datos</a:t>
            </a:r>
          </a:p>
        </p:txBody>
      </p:sp>
      <p:pic>
        <p:nvPicPr>
          <p:cNvPr id="191" name="Screenshot 2024-06-18 at 02.32.30.png" descr="Screenshot 2024-06-18 at 02.32.3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84669" y="8037997"/>
            <a:ext cx="11545461" cy="51943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Aprende a separar entre clases a partir de ejemplos etiquetados.…"/>
          <p:cNvSpPr txBox="1"/>
          <p:nvPr>
            <p:ph type="body" sz="half" idx="1"/>
          </p:nvPr>
        </p:nvSpPr>
        <p:spPr>
          <a:xfrm>
            <a:off x="1550944" y="3968665"/>
            <a:ext cx="9257011" cy="8572501"/>
          </a:xfrm>
          <a:prstGeom prst="rect">
            <a:avLst/>
          </a:prstGeom>
        </p:spPr>
        <p:txBody>
          <a:bodyPr/>
          <a:lstStyle/>
          <a:p>
            <a:pPr/>
            <a:r>
              <a:t>Aprende a separar entre clases a partir de ejemplos etiquetados.</a:t>
            </a:r>
          </a:p>
          <a:p>
            <a:pPr/>
            <a:r>
              <a:t>¿Qué responde?</a:t>
            </a:r>
          </a:p>
          <a:p>
            <a:pPr lvl="1"/>
            <a:r>
              <a:t>Es spam o no spam?</a:t>
            </a:r>
          </a:p>
          <a:p>
            <a:pPr lvl="1"/>
            <a:r>
              <a:t>¿Paciente con bajo o alto riesgo?</a:t>
            </a:r>
          </a:p>
          <a:p>
            <a:pPr lvl="1"/>
            <a:r>
              <a:t>¿Cliente abandonara o permanecera?</a:t>
            </a:r>
          </a:p>
        </p:txBody>
      </p:sp>
      <p:sp>
        <p:nvSpPr>
          <p:cNvPr id="194" name="Clasificación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Clasificación</a:t>
            </a:r>
          </a:p>
        </p:txBody>
      </p:sp>
      <p:sp>
        <p:nvSpPr>
          <p:cNvPr id="195" name="Técnicas M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Técnicas MD</a:t>
            </a:r>
          </a:p>
        </p:txBody>
      </p:sp>
      <p:pic>
        <p:nvPicPr>
          <p:cNvPr id="196" name="Screenshot 2026-04-06 at 11.55.19 PM.png" descr="Screenshot 2026-04-06 at 11.55.1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90313" y="705019"/>
            <a:ext cx="8727684" cy="7459559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El algoritmo kNN calcula la distancia…"/>
          <p:cNvSpPr txBox="1"/>
          <p:nvPr/>
        </p:nvSpPr>
        <p:spPr>
          <a:xfrm>
            <a:off x="13036008" y="8789488"/>
            <a:ext cx="10124822" cy="996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defRPr b="1" sz="2800">
                <a:solidFill>
                  <a:srgbClr val="000000"/>
                </a:solidFill>
              </a:defRPr>
            </a:pPr>
            <a:r>
              <a:t>El algoritmo kNN calcula la distancia </a:t>
            </a:r>
          </a:p>
          <a:p>
            <a:pPr algn="l">
              <a:defRPr b="1" sz="2800">
                <a:solidFill>
                  <a:srgbClr val="000000"/>
                </a:solidFill>
              </a:defRPr>
            </a:pPr>
            <a:r>
              <a:t>entre  los casos sin etiqueta y todos los datos con etiqueta</a:t>
            </a:r>
          </a:p>
        </p:txBody>
      </p:sp>
      <p:sp>
        <p:nvSpPr>
          <p:cNvPr id="198" name="Dime con quién andas y te diré quién eres."/>
          <p:cNvSpPr txBox="1"/>
          <p:nvPr/>
        </p:nvSpPr>
        <p:spPr>
          <a:xfrm>
            <a:off x="12977872" y="10410558"/>
            <a:ext cx="7352565" cy="564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defRPr b="1" sz="2800">
                <a:solidFill>
                  <a:srgbClr val="000000"/>
                </a:solidFill>
              </a:defRPr>
            </a:lvl1pPr>
          </a:lstStyle>
          <a:p>
            <a:pPr/>
            <a:r>
              <a:t>Dime con quién andas y te diré quién eres.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98" grpId="2"/>
      <p:bldP build="p" bldLvl="5" animBg="1" rev="0" advAuto="0" spid="19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Modela una relación continua entre variables predictoras y una respuesta numérica.…"/>
          <p:cNvSpPr txBox="1"/>
          <p:nvPr>
            <p:ph type="body" sz="half" idx="1"/>
          </p:nvPr>
        </p:nvSpPr>
        <p:spPr>
          <a:xfrm>
            <a:off x="1550944" y="3968665"/>
            <a:ext cx="9257011" cy="8572501"/>
          </a:xfrm>
          <a:prstGeom prst="rect">
            <a:avLst/>
          </a:prstGeom>
        </p:spPr>
        <p:txBody>
          <a:bodyPr/>
          <a:lstStyle/>
          <a:p>
            <a:pPr marL="512063" indent="-512063" defTabSz="2340805">
              <a:spcBef>
                <a:spcPts val="4300"/>
              </a:spcBef>
              <a:defRPr sz="4032"/>
            </a:pPr>
            <a:r>
              <a:t>Modela una relación continua entre variables predictoras y una respuesta numérica.</a:t>
            </a:r>
          </a:p>
          <a:p>
            <a:pPr marL="512063" indent="-512063" defTabSz="2340805">
              <a:spcBef>
                <a:spcPts val="4300"/>
              </a:spcBef>
              <a:defRPr sz="4032"/>
            </a:pPr>
            <a:r>
              <a:t>¿Qué responde?</a:t>
            </a:r>
          </a:p>
          <a:p>
            <a:pPr lvl="1" marL="877823" indent="-512063" defTabSz="2340805">
              <a:spcBef>
                <a:spcPts val="4300"/>
              </a:spcBef>
              <a:defRPr sz="4032"/>
            </a:pPr>
            <a:r>
              <a:t>¿Cuál será el precio de una vivienda?</a:t>
            </a:r>
          </a:p>
          <a:p>
            <a:pPr lvl="1" marL="877823" indent="-512063" defTabSz="2340805">
              <a:spcBef>
                <a:spcPts val="4300"/>
              </a:spcBef>
              <a:defRPr sz="4032"/>
            </a:pPr>
            <a:r>
              <a:t>¿Cuántas ventas se esperan la próxima semana?</a:t>
            </a:r>
            <a:r>
              <a:rPr sz="1152"/>
              <a:t> </a:t>
            </a:r>
          </a:p>
          <a:p>
            <a:pPr lvl="1" marL="877823" indent="-512063" defTabSz="2340805">
              <a:spcBef>
                <a:spcPts val="4300"/>
              </a:spcBef>
              <a:defRPr sz="4032"/>
            </a:pPr>
            <a:r>
              <a:t>¿Qué tiempo de recuperación tendrá un paciente?</a:t>
            </a:r>
            <a:endParaRPr sz="1152"/>
          </a:p>
        </p:txBody>
      </p:sp>
      <p:sp>
        <p:nvSpPr>
          <p:cNvPr id="201" name="Regresión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Regresión</a:t>
            </a:r>
          </a:p>
        </p:txBody>
      </p:sp>
      <p:sp>
        <p:nvSpPr>
          <p:cNvPr id="202" name="Técnicas M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Técnicas MD</a:t>
            </a:r>
          </a:p>
        </p:txBody>
      </p:sp>
      <p:grpSp>
        <p:nvGrpSpPr>
          <p:cNvPr id="205" name="Group"/>
          <p:cNvGrpSpPr/>
          <p:nvPr/>
        </p:nvGrpSpPr>
        <p:grpSpPr>
          <a:xfrm>
            <a:off x="12830488" y="6753851"/>
            <a:ext cx="10268420" cy="7128382"/>
            <a:chOff x="0" y="0"/>
            <a:chExt cx="10268418" cy="7128380"/>
          </a:xfrm>
        </p:grpSpPr>
        <p:pic>
          <p:nvPicPr>
            <p:cNvPr id="203" name="Screenshot 2026-04-07 at 12.14.55 AM.png" descr="Screenshot 2026-04-07 at 12.14.55 AM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132863"/>
              <a:ext cx="10268419" cy="69955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4" name="y = β0 + β1x1 + ϵ"/>
            <p:cNvSpPr txBox="1"/>
            <p:nvPr/>
          </p:nvSpPr>
          <p:spPr>
            <a:xfrm>
              <a:off x="2646206" y="0"/>
              <a:ext cx="4212349" cy="750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4100">
                  <a:solidFill>
                    <a:srgbClr val="000000"/>
                  </a:solidFill>
                </a:defRPr>
              </a:lvl1pPr>
            </a:lstStyle>
            <a:p>
              <a:pPr/>
              <a:r>
                <a:t>y = β0 + β1x1 + ϵ</a:t>
              </a:r>
            </a:p>
          </p:txBody>
        </p:sp>
      </p:grpSp>
      <p:grpSp>
        <p:nvGrpSpPr>
          <p:cNvPr id="208" name="Group"/>
          <p:cNvGrpSpPr/>
          <p:nvPr/>
        </p:nvGrpSpPr>
        <p:grpSpPr>
          <a:xfrm>
            <a:off x="13156522" y="35386"/>
            <a:ext cx="11205252" cy="6548703"/>
            <a:chOff x="0" y="0"/>
            <a:chExt cx="11205250" cy="6548701"/>
          </a:xfrm>
        </p:grpSpPr>
        <p:pic>
          <p:nvPicPr>
            <p:cNvPr id="206" name="Screenshot 2026-04-07 at 12.16.09 AM.png" descr="Screenshot 2026-04-07 at 12.16.09 AM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152887"/>
              <a:ext cx="7356451" cy="63958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7" name="Imagina que quieres predecir el pH de lotes de sidra…"/>
            <p:cNvSpPr txBox="1"/>
            <p:nvPr/>
          </p:nvSpPr>
          <p:spPr>
            <a:xfrm>
              <a:off x="3565233" y="0"/>
              <a:ext cx="7640018" cy="14382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 algn="l" defTabSz="457200">
                <a:defRPr sz="2800"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t>Imagina que quieres predecir el pH de lotes de sidra </a:t>
              </a:r>
            </a:p>
            <a:p>
              <a:pPr algn="l" defTabSz="457200">
                <a:defRPr sz="2800"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t>a partir de la cantidad de manzana contenida </a:t>
              </a:r>
            </a:p>
            <a:p>
              <a:pPr algn="l" defTabSz="457200">
                <a:defRPr sz="2800"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t>en cada lote (en kilogramos).</a:t>
              </a:r>
            </a:p>
          </p:txBody>
        </p:sp>
      </p:grpSp>
      <p:sp>
        <p:nvSpPr>
          <p:cNvPr id="209" name="Slope: como cambia Y…"/>
          <p:cNvSpPr txBox="1"/>
          <p:nvPr/>
        </p:nvSpPr>
        <p:spPr>
          <a:xfrm>
            <a:off x="20292529" y="11045149"/>
            <a:ext cx="3970504" cy="820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/>
            <a:r>
              <a:t>Slope: como cambia Y </a:t>
            </a:r>
          </a:p>
          <a:p>
            <a:pPr/>
            <a:r>
              <a:t>cuando X incremente 1 unidad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9" grpId="2"/>
      <p:bldP build="whole" bldLvl="1" animBg="1" rev="0" advAuto="0" spid="20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Screenshot 2026-04-07 at 12.26.39 AM.png" descr="Screenshot 2026-04-07 at 12.26.39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04080" y="260243"/>
            <a:ext cx="13820681" cy="4891086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Resume muchas variables en pocas componentes conservando estructura o variabilidad.…"/>
          <p:cNvSpPr txBox="1"/>
          <p:nvPr>
            <p:ph type="body" sz="half" idx="1"/>
          </p:nvPr>
        </p:nvSpPr>
        <p:spPr>
          <a:xfrm>
            <a:off x="1550944" y="3968665"/>
            <a:ext cx="9257011" cy="8572501"/>
          </a:xfrm>
          <a:prstGeom prst="rect">
            <a:avLst/>
          </a:prstGeom>
        </p:spPr>
        <p:txBody>
          <a:bodyPr/>
          <a:lstStyle/>
          <a:p>
            <a:pPr/>
            <a:r>
              <a:t>Resume muchas variables en pocas componentes conservando estructura o variabilidad.</a:t>
            </a:r>
          </a:p>
          <a:p>
            <a:pPr/>
            <a:r>
              <a:t>¿Qué responde?</a:t>
            </a:r>
          </a:p>
          <a:p>
            <a:pPr lvl="1"/>
            <a:r>
              <a:t>¿Cómo visualizar datos de alta dimensión?</a:t>
            </a:r>
          </a:p>
          <a:p>
            <a:pPr lvl="1"/>
            <a:r>
              <a:t>¿Qué variables sintetizan/explican mejor la información?</a:t>
            </a:r>
          </a:p>
          <a:p>
            <a:pPr lvl="1"/>
            <a:r>
              <a:t>¿Cómo reducir ruido y redundancia?</a:t>
            </a:r>
          </a:p>
        </p:txBody>
      </p:sp>
      <p:sp>
        <p:nvSpPr>
          <p:cNvPr id="213" name="Reduccion de dimensionalida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Reduccion de dimensionalidad</a:t>
            </a:r>
          </a:p>
        </p:txBody>
      </p:sp>
      <p:sp>
        <p:nvSpPr>
          <p:cNvPr id="214" name="Técnicas M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Técnicas MD</a:t>
            </a:r>
          </a:p>
        </p:txBody>
      </p:sp>
      <p:pic>
        <p:nvPicPr>
          <p:cNvPr id="215" name="Screenshot 2026-04-07 at 12.29.09 AM.png" descr="Screenshot 2026-04-07 at 12.29.09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81433" y="5610443"/>
            <a:ext cx="13265975" cy="42579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Screenshot 2026-04-07 at 12.38.58 AM.png" descr="Screenshot 2026-04-07 at 12.38.58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126553" y="5347677"/>
            <a:ext cx="14701743" cy="78742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6" grpId="2"/>
      <p:bldP build="whole" bldLvl="1" animBg="1" rev="0" advAuto="0" spid="21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Un clúster es un conjunto de casos que son más similares entre sí que a los casos de otros clústeres.…"/>
          <p:cNvSpPr txBox="1"/>
          <p:nvPr>
            <p:ph type="body" sz="half" idx="1"/>
          </p:nvPr>
        </p:nvSpPr>
        <p:spPr>
          <a:xfrm>
            <a:off x="1550944" y="3968665"/>
            <a:ext cx="9257011" cy="8572501"/>
          </a:xfrm>
          <a:prstGeom prst="rect">
            <a:avLst/>
          </a:prstGeom>
        </p:spPr>
        <p:txBody>
          <a:bodyPr/>
          <a:lstStyle/>
          <a:p>
            <a:pPr/>
            <a:r>
              <a:t>Un clúster es un conjunto de casos que son más similares entre sí que a los casos de otros clústeres.</a:t>
            </a:r>
          </a:p>
          <a:p>
            <a:pPr/>
            <a:r>
              <a:t>¿Qué responde?</a:t>
            </a:r>
          </a:p>
          <a:p>
            <a:pPr lvl="1"/>
            <a:r>
              <a:t>¿Existen perfiles/grupos en los datos?</a:t>
            </a:r>
          </a:p>
          <a:p>
            <a:pPr lvl="1"/>
            <a:r>
              <a:t>¿Qué clientes o pacientes son similares entre sí?</a:t>
            </a:r>
          </a:p>
          <a:p>
            <a:pPr lvl="1"/>
            <a:r>
              <a:t>¿Cómo segmentar poblaciones heterogéneas?</a:t>
            </a:r>
          </a:p>
        </p:txBody>
      </p:sp>
      <p:sp>
        <p:nvSpPr>
          <p:cNvPr id="219" name="Cluster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Clustering</a:t>
            </a:r>
          </a:p>
        </p:txBody>
      </p:sp>
      <p:sp>
        <p:nvSpPr>
          <p:cNvPr id="220" name="Técnicas M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Técnicas MD</a:t>
            </a:r>
          </a:p>
        </p:txBody>
      </p:sp>
      <p:sp>
        <p:nvSpPr>
          <p:cNvPr id="221" name="5 iteraciones de k-means"/>
          <p:cNvSpPr txBox="1"/>
          <p:nvPr/>
        </p:nvSpPr>
        <p:spPr>
          <a:xfrm>
            <a:off x="11880597" y="9896018"/>
            <a:ext cx="4434866" cy="564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defRPr b="1" sz="2800">
                <a:solidFill>
                  <a:srgbClr val="000000"/>
                </a:solidFill>
              </a:defRPr>
            </a:lvl1pPr>
          </a:lstStyle>
          <a:p>
            <a:pPr/>
            <a:r>
              <a:t>5 iteraciones de k-means</a:t>
            </a:r>
          </a:p>
        </p:txBody>
      </p:sp>
      <p:pic>
        <p:nvPicPr>
          <p:cNvPr id="222" name="Screenshot 2026-04-07 at 12.45.12 AM.png" descr="Screenshot 2026-04-07 at 12.45.12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98977" y="92592"/>
            <a:ext cx="13191839" cy="9276166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Se generan aleatoriamente tres centros iniciales…"/>
          <p:cNvSpPr txBox="1"/>
          <p:nvPr/>
        </p:nvSpPr>
        <p:spPr>
          <a:xfrm>
            <a:off x="11755215" y="10987639"/>
            <a:ext cx="10165005" cy="2291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defRPr b="1" sz="2800">
                <a:solidFill>
                  <a:srgbClr val="000000"/>
                </a:solidFill>
              </a:defRPr>
            </a:pPr>
            <a:r>
              <a:t>Se generan aleatoriamente tres centros iniciales </a:t>
            </a:r>
          </a:p>
          <a:p>
            <a:pPr algn="l">
              <a:defRPr b="1" sz="2800">
                <a:solidFill>
                  <a:srgbClr val="000000"/>
                </a:solidFill>
              </a:defRPr>
            </a:pPr>
            <a:r>
              <a:t>en el espacio de características. </a:t>
            </a:r>
          </a:p>
          <a:p>
            <a:pPr algn="l">
              <a:defRPr b="1" sz="2800">
                <a:solidFill>
                  <a:srgbClr val="000000"/>
                </a:solidFill>
              </a:defRPr>
            </a:pPr>
            <a:r>
              <a:t>Los casos se asignan al clúster de su centro más cercano. </a:t>
            </a:r>
          </a:p>
          <a:p>
            <a:pPr algn="l">
              <a:defRPr b="1" sz="2800">
                <a:solidFill>
                  <a:srgbClr val="000000"/>
                </a:solidFill>
              </a:defRPr>
            </a:pPr>
            <a:r>
              <a:t>En cada iteración, cada centro se desplaza hacia la media </a:t>
            </a:r>
          </a:p>
          <a:p>
            <a:pPr algn="l">
              <a:defRPr b="1" sz="2800">
                <a:solidFill>
                  <a:srgbClr val="000000"/>
                </a:solidFill>
              </a:defRPr>
            </a:pPr>
            <a:r>
              <a:t>de los casos de su clúster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3" grpId="2"/>
      <p:bldP build="whole" bldLvl="1" animBg="1" rev="0" advAuto="0" spid="22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Descubre co-ocurrencias frecuentes y reglas del tipo A → B en datos transaccionales.…"/>
          <p:cNvSpPr txBox="1"/>
          <p:nvPr>
            <p:ph type="body" sz="half" idx="1"/>
          </p:nvPr>
        </p:nvSpPr>
        <p:spPr>
          <a:xfrm>
            <a:off x="1550944" y="3968665"/>
            <a:ext cx="9257011" cy="8572501"/>
          </a:xfrm>
          <a:prstGeom prst="rect">
            <a:avLst/>
          </a:prstGeom>
        </p:spPr>
        <p:txBody>
          <a:bodyPr/>
          <a:lstStyle/>
          <a:p>
            <a:pPr/>
            <a:r>
              <a:t>Descubre co-ocurrencias frecuentes y reglas del tipo A → B en datos transaccionales.</a:t>
            </a:r>
          </a:p>
          <a:p>
            <a:pPr/>
            <a:r>
              <a:t>¿Qué responde?</a:t>
            </a:r>
          </a:p>
          <a:p>
            <a:pPr lvl="1"/>
            <a:r>
              <a:t>¿Qué elementos aparecen juntos con frecuencia?</a:t>
            </a:r>
          </a:p>
          <a:p>
            <a:pPr lvl="1"/>
            <a:r>
              <a:t>¿Qué combinaciones sirven para recomendar?</a:t>
            </a:r>
          </a:p>
          <a:p>
            <a:pPr lvl="1"/>
            <a:r>
              <a:t>¿Qué patrones de co-ocurrencia se repiten?</a:t>
            </a:r>
          </a:p>
        </p:txBody>
      </p:sp>
      <p:sp>
        <p:nvSpPr>
          <p:cNvPr id="226" name="Analisis de asociación"/>
          <p:cNvSpPr txBox="1"/>
          <p:nvPr>
            <p:ph type="body" idx="21"/>
          </p:nvPr>
        </p:nvSpPr>
        <p:spPr>
          <a:xfrm>
            <a:off x="2634143" y="1962929"/>
            <a:ext cx="16323471" cy="9447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Analisis de asociación</a:t>
            </a:r>
          </a:p>
        </p:txBody>
      </p:sp>
      <p:sp>
        <p:nvSpPr>
          <p:cNvPr id="227" name="Técnicas M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Técnicas MD</a:t>
            </a:r>
          </a:p>
        </p:txBody>
      </p:sp>
      <p:pic>
        <p:nvPicPr>
          <p:cNvPr id="22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46598" y="251605"/>
            <a:ext cx="8470093" cy="61030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768336" y="6631180"/>
            <a:ext cx="9390526" cy="52688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141898" y="12176617"/>
            <a:ext cx="11483916" cy="76559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15773" y="7006559"/>
            <a:ext cx="8558071" cy="45181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1" grpId="3"/>
      <p:bldP build="whole" bldLvl="1" animBg="1" rev="0" advAuto="0" spid="230" grpId="2"/>
      <p:bldP build="whole" bldLvl="1" animBg="1" rev="0" advAuto="0" spid="22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Métodos estadísticos"/>
          <p:cNvSpPr txBox="1"/>
          <p:nvPr>
            <p:ph type="title"/>
          </p:nvPr>
        </p:nvSpPr>
        <p:spPr>
          <a:xfrm>
            <a:off x="467746" y="232717"/>
            <a:ext cx="16323470" cy="1428751"/>
          </a:xfrm>
          <a:prstGeom prst="rect">
            <a:avLst/>
          </a:prstGeom>
        </p:spPr>
        <p:txBody>
          <a:bodyPr/>
          <a:lstStyle/>
          <a:p>
            <a:pPr/>
            <a:r>
              <a:t>Métodos estadísticos</a:t>
            </a:r>
          </a:p>
        </p:txBody>
      </p:sp>
      <p:pic>
        <p:nvPicPr>
          <p:cNvPr id="23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8861" y="2434430"/>
            <a:ext cx="9202692" cy="7548086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1. Comparar una media con un valor de referencia…"/>
          <p:cNvSpPr txBox="1"/>
          <p:nvPr/>
        </p:nvSpPr>
        <p:spPr>
          <a:xfrm>
            <a:off x="10572635" y="1498912"/>
            <a:ext cx="12954720" cy="3978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457200">
              <a:spcBef>
                <a:spcPts val="1400"/>
              </a:spcBef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 Comparar una media con un valor de referencia</a:t>
            </a:r>
          </a:p>
          <a:p>
            <a:pPr algn="l" defTabSz="457200">
              <a:spcBef>
                <a:spcPts val="1400"/>
              </a:spcBef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Pregunta</a:t>
            </a:r>
          </a:p>
          <a:p>
            <a:pPr marL="457200" indent="-317500" algn="l" defTabSz="457200">
              <a:buSzPct val="123000"/>
              <a:buFont typeface="Times Roman"/>
              <a:buChar char="•"/>
              <a:defRPr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¿La media de una variable es distinta de un valor conocido?</a:t>
            </a:r>
          </a:p>
          <a:p>
            <a:pPr marL="457200" indent="-317500" algn="l" defTabSz="457200">
              <a:buSzPct val="123000"/>
              <a:buFont typeface="Times Roman"/>
              <a:buChar char="•"/>
              <a:defRPr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Ejemplo: ¿el promedio de presión arterial es distinto de 120?</a:t>
            </a:r>
          </a:p>
          <a:p>
            <a:pPr algn="l" defTabSz="457200">
              <a:spcBef>
                <a:spcPts val="1400"/>
              </a:spcBef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Test</a:t>
            </a:r>
          </a:p>
          <a:p>
            <a:pPr marL="457200" indent="-317500" algn="l" defTabSz="457200">
              <a:buSzPct val="123000"/>
              <a:buFont typeface="Times Roman"/>
              <a:buChar char="•"/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 de una muestra</a:t>
            </a:r>
            <a:endParaRPr b="0"/>
          </a:p>
          <a:p>
            <a:pPr marL="457200" indent="-317500" algn="l" defTabSz="457200">
              <a:buSzPct val="123000"/>
              <a:buFont typeface="Times Roman"/>
              <a:buChar char="•"/>
              <a:defRPr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 no se cumple normalidad y la muestra es pequeña: </a:t>
            </a:r>
            <a:r>
              <a:rPr b="1"/>
              <a:t>Wilcoxon de una muestra</a:t>
            </a:r>
          </a:p>
        </p:txBody>
      </p:sp>
      <p:sp>
        <p:nvSpPr>
          <p:cNvPr id="236" name="2. Comparar medias entre dos grupos independientes…"/>
          <p:cNvSpPr txBox="1"/>
          <p:nvPr/>
        </p:nvSpPr>
        <p:spPr>
          <a:xfrm>
            <a:off x="10769545" y="5545732"/>
            <a:ext cx="9944300" cy="444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457200">
              <a:spcBef>
                <a:spcPts val="1400"/>
              </a:spcBef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2. Comparar medias entre dos grupos independientes</a:t>
            </a:r>
          </a:p>
          <a:p>
            <a:pPr algn="l" defTabSz="457200">
              <a:spcBef>
                <a:spcPts val="1400"/>
              </a:spcBef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Pregunta</a:t>
            </a:r>
          </a:p>
          <a:p>
            <a:pPr marL="457200" indent="-317500" algn="l" defTabSz="457200">
              <a:buSzPct val="123000"/>
              <a:buFont typeface="Times Roman"/>
              <a:buChar char="•"/>
              <a:defRPr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¿El promedio de una variable difiere entre dos grupos?</a:t>
            </a:r>
          </a:p>
          <a:p>
            <a:pPr marL="457200" indent="-317500" algn="l" defTabSz="457200">
              <a:buSzPct val="123000"/>
              <a:buFont typeface="Times Roman"/>
              <a:buChar char="•"/>
              <a:defRPr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Ejemplo: ¿la nota promedio difiere entre hombres y mujeres?</a:t>
            </a:r>
          </a:p>
          <a:p>
            <a:pPr algn="l" defTabSz="457200">
              <a:spcBef>
                <a:spcPts val="1400"/>
              </a:spcBef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Test</a:t>
            </a:r>
          </a:p>
          <a:p>
            <a:pPr marL="457200" indent="-317500" algn="l" defTabSz="457200">
              <a:buSzPct val="123000"/>
              <a:buFont typeface="Times Roman"/>
              <a:buChar char="•"/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 de Student para muestras independientes</a:t>
            </a:r>
            <a:endParaRPr b="0"/>
          </a:p>
          <a:p>
            <a:pPr marL="457200" indent="-317500" algn="l" defTabSz="457200">
              <a:buSzPct val="123000"/>
              <a:buFont typeface="Times Roman"/>
              <a:buChar char="•"/>
              <a:defRPr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 las varianzas no son iguales: </a:t>
            </a:r>
            <a:r>
              <a:rPr b="1"/>
              <a:t>t de Welch</a:t>
            </a:r>
          </a:p>
          <a:p>
            <a:pPr marL="457200" indent="-317500" algn="l" defTabSz="457200">
              <a:buSzPct val="123000"/>
              <a:buFont typeface="Times Roman"/>
              <a:buChar char="•"/>
              <a:defRPr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 no hay normalidad: </a:t>
            </a:r>
            <a:r>
              <a:rPr b="1"/>
              <a:t>Mann–Whitney U</a:t>
            </a:r>
          </a:p>
        </p:txBody>
      </p:sp>
      <p:sp>
        <p:nvSpPr>
          <p:cNvPr id="237" name="4. Comparar medias entre tres o más grupos independientes…"/>
          <p:cNvSpPr txBox="1"/>
          <p:nvPr/>
        </p:nvSpPr>
        <p:spPr>
          <a:xfrm>
            <a:off x="91040" y="9827504"/>
            <a:ext cx="10366971" cy="3978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457200">
              <a:spcBef>
                <a:spcPts val="1400"/>
              </a:spcBef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4. Comparar medias entre tres o más grupos independientes</a:t>
            </a:r>
          </a:p>
          <a:p>
            <a:pPr algn="l" defTabSz="457200">
              <a:spcBef>
                <a:spcPts val="1400"/>
              </a:spcBef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Pregunta</a:t>
            </a:r>
          </a:p>
          <a:p>
            <a:pPr marL="457200" indent="-317500" algn="l" defTabSz="457200">
              <a:buSzPct val="123000"/>
              <a:buFont typeface="Times Roman"/>
              <a:buChar char="•"/>
              <a:defRPr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¿Existen diferencias de medias entre varios grupos?</a:t>
            </a:r>
          </a:p>
          <a:p>
            <a:pPr marL="457200" indent="-317500" algn="l" defTabSz="457200">
              <a:buSzPct val="123000"/>
              <a:buFont typeface="Times Roman"/>
              <a:buChar char="•"/>
              <a:defRPr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Ejemplo: ¿el rendimiento difiere entre 3 métodos de enseñanza?</a:t>
            </a:r>
          </a:p>
          <a:p>
            <a:pPr algn="l" defTabSz="457200">
              <a:spcBef>
                <a:spcPts val="1400"/>
              </a:spcBef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Test</a:t>
            </a:r>
          </a:p>
          <a:p>
            <a:pPr marL="457200" indent="-317500" algn="l" defTabSz="457200">
              <a:buSzPct val="123000"/>
              <a:buFont typeface="Times Roman"/>
              <a:buChar char="•"/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ANOVA de una vía</a:t>
            </a:r>
            <a:endParaRPr b="0"/>
          </a:p>
          <a:p>
            <a:pPr marL="457200" indent="-317500" algn="l" defTabSz="457200">
              <a:buSzPct val="123000"/>
              <a:buFont typeface="Times Roman"/>
              <a:buChar char="•"/>
              <a:defRPr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 no hay normalidad: </a:t>
            </a:r>
            <a:r>
              <a:rPr b="1"/>
              <a:t>Kruskal–Wallis</a:t>
            </a:r>
          </a:p>
        </p:txBody>
      </p:sp>
      <p:sp>
        <p:nvSpPr>
          <p:cNvPr id="238" name="13. Modelar efecto de una variable sobre otra numérica…"/>
          <p:cNvSpPr txBox="1"/>
          <p:nvPr/>
        </p:nvSpPr>
        <p:spPr>
          <a:xfrm>
            <a:off x="10796698" y="10024353"/>
            <a:ext cx="9167863" cy="350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457200">
              <a:spcBef>
                <a:spcPts val="1400"/>
              </a:spcBef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13. Modelar efecto de una variable sobre otra numérica</a:t>
            </a:r>
          </a:p>
          <a:p>
            <a:pPr algn="l" defTabSz="457200">
              <a:spcBef>
                <a:spcPts val="1400"/>
              </a:spcBef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Pregunta</a:t>
            </a:r>
          </a:p>
          <a:p>
            <a:pPr marL="457200" indent="-317500" algn="l" defTabSz="457200">
              <a:buSzPct val="123000"/>
              <a:buFont typeface="Times Roman"/>
              <a:buChar char="•"/>
              <a:defRPr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¿X tiene efecto sobre Y continua?</a:t>
            </a:r>
          </a:p>
          <a:p>
            <a:pPr marL="457200" indent="-317500" algn="l" defTabSz="457200">
              <a:buSzPct val="123000"/>
              <a:buFont typeface="Times Roman"/>
              <a:buChar char="•"/>
              <a:defRPr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Ejemplo: ¿la edad predice presión arterial?</a:t>
            </a:r>
          </a:p>
          <a:p>
            <a:pPr algn="l" defTabSz="457200">
              <a:spcBef>
                <a:spcPts val="1400"/>
              </a:spcBef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Test / enfoque</a:t>
            </a:r>
          </a:p>
          <a:p>
            <a:pPr marL="457200" indent="-317500" algn="l" defTabSz="457200">
              <a:buSzPct val="123000"/>
              <a:buFont typeface="Times Roman"/>
              <a:buChar char="•"/>
              <a:defRPr b="1"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Regresión lineal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6" grpId="2"/>
      <p:bldP build="whole" bldLvl="1" animBg="1" rev="0" advAuto="0" spid="238" grpId="4"/>
      <p:bldP build="whole" bldLvl="1" animBg="1" rev="0" advAuto="0" spid="237" grpId="3"/>
      <p:bldP build="whole" bldLvl="1" animBg="1" rev="0" advAuto="0" spid="23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¿Consultas o comentarios?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¿Consultas o comentarios?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24383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243833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